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3840480" cy="384048"/>
          </a:xfrm>
          <a:prstGeom prst="roundRect">
            <a:avLst/>
          </a:prstGeom>
          <a:solidFill>
            <a:srgbClr val="1E462A"/>
          </a:solidFill>
          <a:ln w="12700">
            <a:solidFill>
              <a:srgbClr val="E67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67C0B"/>
                </a:solidFill>
                <a:latin typeface="Calibri"/>
              </a:defRPr>
            </a:pPr>
            <a:r>
              <a:t>🏆 VORTEX 2K26 HACKATHON PITCH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Mandi Saathi (मंडी साथी)</a:t>
            </a:r>
          </a:p>
          <a:p>
            <a:pPr>
              <a:defRPr sz="2200" b="1">
                <a:solidFill>
                  <a:srgbClr val="A5D6A7"/>
                </a:solidFill>
                <a:latin typeface="Calibri"/>
              </a:defRPr>
            </a:pPr>
            <a:r>
              <a:t>AI-Powered Net-Profit &amp; Smart Selling Advisor for Farmers</a:t>
            </a:r>
          </a:p>
          <a:p>
            <a:pPr>
              <a:defRPr sz="1400">
                <a:solidFill>
                  <a:srgbClr val="C8E1CD"/>
                </a:solidFill>
                <a:latin typeface="Calibri"/>
              </a:defRPr>
            </a:pPr>
            <a:r>
              <a:t>Protecting Indian farmers from the 'Headline Price Trap' with real economic calculations and native voice AI in Marathi, Hindi &amp; English.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3291840" cy="210312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600" b="1">
                <a:solidFill>
                  <a:srgbClr val="E67C0B"/>
                </a:solidFill>
                <a:latin typeface="Calibri"/>
              </a:defRPr>
            </a:pPr>
            <a:r>
              <a:t>₹15k – ₹50k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Extra Net Profit</a:t>
            </a:r>
          </a:p>
          <a:p>
            <a:pPr>
              <a:defRPr sz="1050">
                <a:solidFill>
                  <a:srgbClr val="B4CDB9"/>
                </a:solidFill>
                <a:latin typeface="Calibri"/>
              </a:defRPr>
            </a:pPr>
            <a:r>
              <a:t>Per harvest saved by avoiding the headline price trap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931920"/>
            <a:ext cx="3291840" cy="210312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600" b="1">
                <a:solidFill>
                  <a:srgbClr val="81C784"/>
                </a:solidFill>
                <a:latin typeface="Calibri"/>
              </a:defRPr>
            </a:pPr>
            <a:r>
              <a:t>100% Devanagari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Voice-First AI</a:t>
            </a:r>
          </a:p>
          <a:p>
            <a:pPr>
              <a:defRPr sz="1050">
                <a:solidFill>
                  <a:srgbClr val="B4CDB9"/>
                </a:solidFill>
                <a:latin typeface="Calibri"/>
              </a:defRPr>
            </a:pPr>
            <a:r>
              <a:t>Native Marathi &amp; Hindi voice interaction for low-literacy farmers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931920"/>
            <a:ext cx="3291840" cy="210312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600" b="1">
                <a:solidFill>
                  <a:srgbClr val="64B5F6"/>
                </a:solidFill>
                <a:latin typeface="Calibri"/>
              </a:defRPr>
            </a:pPr>
            <a:r>
              <a:t>57/57 Verified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Deterministic Math</a:t>
            </a:r>
          </a:p>
          <a:p>
            <a:pPr>
              <a:defRPr sz="1050">
                <a:solidFill>
                  <a:srgbClr val="B4CDB9"/>
                </a:solidFill>
                <a:latin typeface="Calibri"/>
              </a:defRPr>
            </a:pPr>
            <a:r>
              <a:t>Real Agmarknet APMC rates, freight models &amp; spoilage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THE CRITICAL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The 'Headline Price Trap' in Indian Agriculture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Why farmers lose thousands of rupees chasing distant high prices they see on paper.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1. The Headline Illusion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Farmers see a high quote on news or WhatsApp (e.g., Vashi ₹2,100/q vs Local Pune ₹1,800/q).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They assume traveling to the big city will automatically yield ₹300/q extra income.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Headline prices completely ignore transport costs, labor, and transit spoilage.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2. Hidden Friction Costs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Transport Freight: ₹800–₹2,500 tempo rental per trip eats into margins.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Loading/Unloading &amp; Market Cess: ₹50–₹75/q deducted at distant APMCs.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Perishable Transit Degradation: 2–5% tomato/vegetable loss in non-AC tempos.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3. The Auction Cutoff Hazard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Most APMCs hold morning auctions with cutoffs at 11:00 AM or 12:00 PM.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Long travel delays mean arriving late: forced to sell at 30% distress discount or pay overnight warehouse rent.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Result: Farmer actually pockets LESS cash than selling at their local mandi!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Mandi Saathi: India's 1st AI Net-Return Engine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Transforming agricultural selling from speculative guesswork to data-driven net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💰 Real Net Profit Math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Calculates Real Cash-in-Pocket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Deducts vehicle transport costs (diesel + tempo rates).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Deducts mandi cess, loading/unloading labor charges.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Accounts for crop spoilage curve during transit.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Formula: Net Return = Gross Modal - (Freight + Labor + APMC Fee + Spoilage)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🎙️ Multilingual Voice AI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Zero Literacy Barrier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Voice-first interface in pure Marathi Devanagari, Hindi &amp; English.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Conversational multi-turn context (understands follow-ups).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Auto-translates colloquial speech: '२० क्विंटल', 'दोन गाडी', '५० पोती'.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Text-to-speech audio playback directly speaks the advice to the farmer.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⚖️ Actionable Decision Rules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Timing &amp; Safety Guardrails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Multi-Mandi Arbitrage: Ranks all mandis within 300 km by net in-pocket return.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Store vs. Sell: Recommends whether to hold crop for price surges or sell immediately.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Break-Even Threshold: Tells farmer the exact minimum price needed to travel.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Cutoff Alert: Warns when departure time risks missing the auction.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Multi-Mandi Net Profit Ranker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Ranks all reachable APMCs by real net earnings rather than deceptive headline prices.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8404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How the Ranker Works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Farmer inputs crop, quantity &amp; home district (e.g., 20 quintals Tomato from Pune).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Engine pulls active daily APMC prices from surrounding districts (Pune, Ahilyanagar, Nashik, Mumbai).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Computes exact road distance (km) and estimated tempo travel time.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Deducts vehicle freight, loading/unloading, market cess, and transit spoilage.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Ranks markets by net return (₹/q) and total earnings in pocket.</a:t>
            </a:r>
          </a:p>
          <a:p>
            <a:pPr>
              <a:spcBef>
                <a:spcPts val="6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Highlights the #1 Winner with auction cutoff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00200"/>
            <a:ext cx="6583680" cy="46634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B5E20"/>
                </a:solidFill>
                <a:latin typeface="Calibri"/>
              </a:defRPr>
            </a:pPr>
            <a:r>
              <a:t>🏆 WINNER: Sangamner APMC (Ahilyanagar District)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Gross Modal Price:  ₹2,139.00 / quintal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Distance &amp; Transit:  154.0 km (~3.4 hrs by tempo)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Transport Deduction:  -₹5.44 / quintal (tempo freight)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Handling &amp; Market Fee:  -₹53.58 / quintal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Transit Spoilage:  -₹2.00 / quintal (perishable adjustment)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Total Net In-Pocket:  ₹1,933.98 / quintal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Total Earnings (1020 Q):  ₹1,972,660 net cash</a:t>
            </a:r>
          </a:p>
          <a:p>
            <a:pPr>
              <a:spcBef>
                <a:spcPts val="400"/>
              </a:spcBef>
              <a:defRPr sz="1200">
                <a:solidFill>
                  <a:srgbClr val="1C251E"/>
                </a:solidFill>
                <a:latin typeface="Calibri"/>
              </a:defRPr>
            </a:pPr>
            <a:r>
              <a:t>Extra Gain vs Local Pune:  +₹233.83 / quintal (+₹238,506 total gain!)</a:t>
            </a:r>
          </a:p>
          <a:p>
            <a:pPr>
              <a:spcBef>
                <a:spcPts val="1000"/>
              </a:spcBef>
              <a:defRPr sz="1100" b="1">
                <a:solidFill>
                  <a:srgbClr val="1B5E20"/>
                </a:solidFill>
                <a:latin typeface="Calibri"/>
              </a:defRPr>
            </a:pPr>
            <a:r>
              <a:t>💡 Verdict: Sangamner market offers significantly higher prices that comfortably overcome the transport cost, delivering maximum take-home profit before the 12:00 PM auction.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'Sell Now vs. Store' Timing Advisor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Prevents distress selling while protecting farmers against perishable storage decay.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Perishable Crop Protection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Crops like Tomato &amp; Green Vegetables spoil rapidly in standard farm storage.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Degradation rate exceeds 1.5% - 3.0% per day without controlled atmosphere.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Decision Engine Rule: Flags Tomato as strictly non-storable without active cold chain.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Recommendation: 'Sell Today' — Avoids catastrophic weight loss and rotting.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Durable Commodity Holding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Crops like Onion, Soybean, Cotton &amp; Wheat can be stored safely.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Forecasts 7-14 day price trends using historical Agmarknet seasonal patterns.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Calculates Net Holding Gain = Expected Price Increase - (Warehouse Rent + 0.5% Shrinkage).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Recommendation: 'Hold for 5 Days' if projected gain exceeds +₹75/q hurdle 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Clear Action Badges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🟢 'आजच तातडीने विक्री करा' (Sell Immediately Today)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🟡 '५ दिवस साठवून ठेवा' (Store for 5 Days for ₹120/q extra gain)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🔴 'बाजार घसरणीची शक्यता' (Impending Supply Glut - Sell Now)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All recommendations accompanied by a plain-language explanation of costs vs benefits.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CORE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Break-Even Price &amp; Auction Cutoff Guard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Safety guardrails ensuring farmers never risk a long-distance trip on a gamble.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⚖️ Break-Even Price Calculation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What is it? The exact minimum price the distant mandi must offer to match local net earnings.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Formula: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Break-Even Price = Local Net Return + Distant Freight + Labor + Spoilage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Example (Pune to Sangamner):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Local Pune Net Return: ₹1,556 / qtl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Distant Costs: ₹212 / qtl (freight + fees)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Break-Even Price: ₹1,768 / qtl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If Sangamner price drops below ₹1,768, traveling there results in a net financial loss! The farmer is safely advised to sell locally in Pune.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0020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62828"/>
                </a:solidFill>
                <a:latin typeface="Calibri"/>
              </a:defRPr>
            </a:pPr>
            <a:r>
              <a:t>⏱️ Auction Cutoff &amp; Timing Guard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The Cutoff Reality: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Most Maharashtra APMCs close morning lot registrations at 11:30 AM or 12:00 PM.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Departure Time Intelligence: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Mandi Saathi calculates estimated arrival based on distance, vehicle type, and current time.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Late Arrival Warning: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If arrival is estimated at 12:40 PM, the system warns: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⚠️ 'लिलाव वेळ हुकण्याचा संभव (Risk of Missing Cutoff)'</a:t>
            </a:r>
          </a:p>
          <a:p>
            <a:pPr>
              <a:spcBef>
                <a:spcPts val="4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   Distant mandi is automatically flagged or downgraded because arriving after cutoff forces overnight holding or severe distress sale.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REAL FARMER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Case Study: 50 Quintals Tomato from Pune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How Mandi Saathi's math prevented a ₹3,850 loss and delivered +₹18,900 extra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2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1C251E"/>
                </a:solidFill>
                <a:latin typeface="Calibri"/>
              </a:defRPr>
            </a:pPr>
            <a:r>
              <a:t>Local Market (Pune)</a:t>
            </a:r>
          </a:p>
          <a:p>
            <a:pPr>
              <a:defRPr sz="1000" b="1">
                <a:solidFill>
                  <a:srgbClr val="1C251E"/>
                </a:solidFill>
                <a:latin typeface="Calibri"/>
              </a:defRPr>
            </a:pPr>
            <a:r>
              <a:t>SAFE BASELINE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Gross Modal Price:</a:t>
            </a:r>
            <a:br/>
            <a:r>
              <a:t>₹1,613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Transport &amp; Handling:</a:t>
            </a:r>
            <a:br/>
            <a:r>
              <a:t>-₹56.54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Net In-Pocket / Quintal:</a:t>
            </a:r>
            <a:br/>
            <a:r>
              <a:t>₹1,556.46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Total In-Pocket Earnings:</a:t>
            </a:r>
            <a:br/>
            <a:r>
              <a:t>₹77,823</a:t>
            </a:r>
          </a:p>
          <a:p>
            <a:pPr>
              <a:spcBef>
                <a:spcPts val="8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Outcome:</a:t>
            </a:r>
            <a:br/>
            <a:r>
              <a:t>0 km, immediate sale, 0 cutoff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Headline Trap (Vashi, Mumbai)</a:t>
            </a:r>
          </a:p>
          <a:p>
            <a:pPr>
              <a:defRPr sz="1000" b="1">
                <a:solidFill>
                  <a:srgbClr val="C62828"/>
                </a:solidFill>
                <a:latin typeface="Calibri"/>
              </a:defRPr>
            </a:pPr>
            <a:r>
              <a:t>HEADLINE ILLUSION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Gross Modal Price:</a:t>
            </a:r>
            <a:br/>
            <a:r>
              <a:t>₹1,647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Transport &amp; Handling:</a:t>
            </a:r>
            <a:br/>
            <a:r>
              <a:t>-₹167.18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Net In-Pocket / Quintal:</a:t>
            </a:r>
            <a:br/>
            <a:r>
              <a:t>₹1,479.82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Total In-Pocket Earnings:</a:t>
            </a:r>
            <a:br/>
            <a:r>
              <a:t>₹73,991</a:t>
            </a:r>
          </a:p>
          <a:p>
            <a:pPr>
              <a:spcBef>
                <a:spcPts val="800"/>
              </a:spcBef>
              <a:defRPr sz="1100" b="1">
                <a:solidFill>
                  <a:srgbClr val="C62828"/>
                </a:solidFill>
                <a:latin typeface="Calibri"/>
              </a:defRPr>
            </a:pPr>
            <a:r>
              <a:t>Outcome:</a:t>
            </a:r>
            <a:br/>
            <a:r>
              <a:t>LOSES ₹3,832 vs staying local due to heavy Mumbai freight!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Mandi Saathi Winner (Sangamner)</a:t>
            </a:r>
          </a:p>
          <a:p>
            <a:pPr>
              <a:defRPr sz="1000" b="1">
                <a:solidFill>
                  <a:srgbClr val="1B5E20"/>
                </a:solidFill>
                <a:latin typeface="Calibri"/>
              </a:defRPr>
            </a:pPr>
            <a:r>
              <a:t>SMART ARBITRAGE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Gross Modal Price:</a:t>
            </a:r>
            <a:br/>
            <a:r>
              <a:t>₹2,139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Transport &amp; Handling:</a:t>
            </a:r>
            <a:br/>
            <a:r>
              <a:t>-₹205.02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Net In-Pocket / Quintal:</a:t>
            </a:r>
            <a:br/>
            <a:r>
              <a:t>₹1,933.98 / q</a:t>
            </a:r>
          </a:p>
          <a:p>
            <a:pPr>
              <a:spcBef>
                <a:spcPts val="600"/>
              </a:spcBef>
              <a:defRPr sz="1100" b="1">
                <a:solidFill>
                  <a:srgbClr val="1C251E"/>
                </a:solidFill>
                <a:latin typeface="Calibri"/>
              </a:defRPr>
            </a:pPr>
            <a:r>
              <a:t>Total In-Pocket Earnings:</a:t>
            </a:r>
            <a:br/>
            <a:r>
              <a:t>₹96,699</a:t>
            </a:r>
          </a:p>
          <a:p>
            <a:pPr>
              <a:spcBef>
                <a:spcPts val="800"/>
              </a:spcBef>
              <a:defRPr sz="1100" b="1">
                <a:solidFill>
                  <a:srgbClr val="1B5E20"/>
                </a:solidFill>
                <a:latin typeface="Calibri"/>
              </a:defRPr>
            </a:pPr>
            <a:r>
              <a:t>Outcome:</a:t>
            </a:r>
            <a:br/>
            <a:r>
              <a:t>GAINS +₹18,876 net profit after all transport &amp; fees!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Voice-First AI in Native Marathi &amp; Hindi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Designed for real rural farmers who prefer speaking over typing.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217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📱 Live Multilingual Dialogue Flow</a:t>
            </a:r>
          </a:p>
          <a:p>
            <a:pPr>
              <a:spcBef>
                <a:spcPts val="400"/>
              </a:spcBef>
              <a:defRPr sz="1100" b="1">
                <a:solidFill>
                  <a:srgbClr val="1565C0"/>
                </a:solidFill>
                <a:latin typeface="Calibri"/>
              </a:defRPr>
            </a:pPr>
            <a:r>
              <a:t>👨‍🌾 Farmer (Voice - Marathi):</a:t>
            </a:r>
          </a:p>
          <a:p>
            <a:pPr>
              <a:defRPr sz="1050">
                <a:solidFill>
                  <a:srgbClr val="1C251E"/>
                </a:solidFill>
                <a:latin typeface="Calibri"/>
              </a:defRPr>
            </a:pPr>
            <a:r>
              <a:t>'1020 किलो क्विंटल आहे. मला पुण्याच्या मध्ये विकायचा आहे.'</a:t>
            </a:r>
          </a:p>
          <a:p>
            <a:pPr>
              <a:spcBef>
                <a:spcPts val="400"/>
              </a:spcBef>
              <a:defRPr sz="1100" b="1">
                <a:solidFill>
                  <a:srgbClr val="1B5E20"/>
                </a:solidFill>
                <a:latin typeface="Calibri"/>
              </a:defRPr>
            </a:pPr>
            <a:r>
              <a:t>🤖 Mandi Saathi (AI Response):</a:t>
            </a:r>
          </a:p>
          <a:p>
            <a:pPr>
              <a:defRPr sz="1050">
                <a:solidFill>
                  <a:srgbClr val="1C251E"/>
                </a:solidFill>
                <a:latin typeface="Calibri"/>
              </a:defRPr>
            </a:pPr>
            <a:r>
              <a:t>'तुम्हाला कोणत्या पिकासाठी सल्ला हवा आहे? (उदा. टोमॅटो, कांदा, सोयाबीन, तूर...)'</a:t>
            </a:r>
          </a:p>
          <a:p>
            <a:pPr>
              <a:spcBef>
                <a:spcPts val="400"/>
              </a:spcBef>
              <a:defRPr sz="1100" b="1">
                <a:solidFill>
                  <a:srgbClr val="1565C0"/>
                </a:solidFill>
                <a:latin typeface="Calibri"/>
              </a:defRPr>
            </a:pPr>
            <a:r>
              <a:t>👨‍🌾 Farmer (Voice Follow-up):</a:t>
            </a:r>
          </a:p>
          <a:p>
            <a:pPr>
              <a:defRPr sz="1050">
                <a:solidFill>
                  <a:srgbClr val="1C251E"/>
                </a:solidFill>
                <a:latin typeface="Calibri"/>
              </a:defRPr>
            </a:pPr>
            <a:r>
              <a:t>'टोमॅटो'</a:t>
            </a:r>
          </a:p>
          <a:p>
            <a:pPr>
              <a:spcBef>
                <a:spcPts val="400"/>
              </a:spcBef>
              <a:defRPr sz="1100" b="1">
                <a:solidFill>
                  <a:srgbClr val="1B5E20"/>
                </a:solidFill>
                <a:latin typeface="Calibri"/>
              </a:defRPr>
            </a:pPr>
            <a:r>
              <a:t>🤖 Mandi Saathi (Smart Advisory):</a:t>
            </a:r>
          </a:p>
          <a:p>
            <a:pPr>
              <a:defRPr sz="1050">
                <a:solidFill>
                  <a:srgbClr val="1C251E"/>
                </a:solidFill>
                <a:latin typeface="Calibri"/>
              </a:defRPr>
            </a:pPr>
            <a:r>
              <a:t>'Pune भागातील 1020 क्विंटल टोमॅटोसाठी सर्वात जास्त नफा देणारा बाजार Sangamner आहे!\n💰 खिशात पडणारा निव्वळ नफा: ₹1,933.98/क्विंटल\n💵 एकूण निव्वळ उत्पन्न: ₹1,972,660\n🚚 वाहतूक खर्च: -₹5.44/क्विंटल (154 किमी)\n⏱️ लिलाव वेळ: सकाळी 12:00 पूर्वी पोहोचावे\n💡 स्थानिक बाजारापेक्षा +₹233.83/क्विंटल जास्त नफा!'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600200"/>
            <a:ext cx="4206240" cy="46634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🎯 Advanced NLP Capabilities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Colloquial Marathi Extraction: Correctly resolves oblique cases ('पुण्याच्या', 'पुण्यामध्ये', 'नाशिकच्या').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Agricultural Unit Converter: Translates 'पोती' (50kg bags), 'गाडी' (tempo loads), 'टन' (tonnes), and 'किलो' automatically into quintals.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Multi-Turn Session Memory: Remembers quantity and location across consecutive turns.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Zero-Error Audio Speech: Uses Web Speech API for voice capture and native Marathi/Hindi speech synthesis.</a:t>
            </a:r>
          </a:p>
          <a:p>
            <a:pPr>
              <a:spcBef>
                <a:spcPts val="6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Interactive Retry Button: Instant one-click retry bubble if connectivity drops.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Robust, Low-Latency &amp; Offline-Tolerant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Engineered for high performance, verified calculations, and reliable rural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1. Frontend Layer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Vanilla JS + HTML5 PWA: Zero framework bloat, sub-1-second mobile load time.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Web Speech API: Native voice recognition in 'mr-IN', 'hi-IN', and 'en-IN'.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SpeechSynthesis: Real-time native audio voiceback in farmer's language.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Port-Agnostic Connectivity: Auto-resolves backend on all dev &amp; production 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2. Backend &amp; NLP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FastAPI (Python 3.13): Asynchronous, high-throughput REST API.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Hybrid NLP: Deterministic regex parsing + Google Gemini fallback.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Session Cache: In-memory multi-turn conversational context tracking.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Strict Schemas: Pydantic validation across all request &amp; response payloads.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3. Data &amp; Economic Engine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Agmarknet Integration: Daily official APMC auction arrivals &amp; prices.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Verified Offline Snapshot: Fallback CSV ensuring zero downtime.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Economic Math Engine: Real distance matrices, fuel tariffs &amp; spoilage curves.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Verified Test Suite: 57/57 automated unit &amp; integration tests passing.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MARKET &amp;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Scaling Impact Across 140M+ Indian Farmers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Building a sustainable, high-growth agri-tech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Free for Small Farmers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B2C Farmer Adoption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100% free core advisory: Daily APMC prices, net profit calculations, and voice chat.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Builds massive rural trust and rapid word-of-mouth adoption across Maharashtra villages.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Target: 50,000 active farmers in year 1 across Nashik, Pune &amp; Ahilyanagar belts.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FPO &amp; Cooperative SaaS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B2B Enterprise Tier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Farmer Producer Organizations (FPOs) aggregate 500–2,000 farmers.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Enterprise Dispatch Planner: Aggregates produce across members to plan multi-truck dispatch.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Subscription Model: ₹2,999 - ₹7,999/month per FPO for logistics optimization.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Logistics &amp; Warehouse Monetization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Marketplace Ecosystem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Return-Trip Truck Aggregation: Matches farmers with empty return-trip tempos, cutting freight by 35%.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Warehouse Booking Lead-gen: Commission from verified cold storage &amp; dry godowns.</a:t>
            </a:r>
          </a:p>
          <a:p>
            <a:pPr>
              <a:spcBef>
                <a:spcPts val="800"/>
              </a:spcBef>
              <a:defRPr sz="1100">
                <a:solidFill>
                  <a:srgbClr val="1C251E"/>
                </a:solidFill>
                <a:latin typeface="Calibri"/>
              </a:defRPr>
            </a:pPr>
            <a:r>
              <a:t>✓ Warehouse Receipt Financing: Partnering with rural banks on verified price collateral.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20"/>
                </a:solidFill>
                <a:latin typeface="Calibri"/>
              </a:defRPr>
            </a:pPr>
            <a:r>
              <a:t>ROADMAP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251E"/>
                </a:solidFill>
                <a:latin typeface="Calibri"/>
              </a:defRPr>
            </a:pPr>
            <a:r>
              <a:t>The Next Steps for Mandi Saathi</a:t>
            </a:r>
          </a:p>
          <a:p>
            <a:pPr>
              <a:defRPr sz="1200">
                <a:solidFill>
                  <a:srgbClr val="5F6E64"/>
                </a:solidFill>
                <a:latin typeface="Calibri"/>
              </a:defRPr>
            </a:pPr>
            <a:r>
              <a:t>From smart selling advisor to complete post-harvest decision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5E20"/>
                </a:solidFill>
                <a:latin typeface="Calibri"/>
              </a:defRPr>
            </a:pPr>
            <a:r>
              <a:t>Phase 1: Now (VORTEX 2K26)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Core Intelligence Live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✓ Multi-mandi net profit ranking live.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✓ Voice AI in Marathi, Hindi &amp; English live.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✓ Break-even math &amp; cutoff warnings live.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✓ Verified against official Agmarknet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Phase 2: Q2-Q3 2026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Zero-App WhatsApp Bot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WhatsApp &amp; Telegram Voice Bot: Farmers send voice notes; bot replies with audio advice.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Collective Truck Pooling: Pool 4–6 small farmers into 1 shared truck.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Expansion to Gujarat, Madhya Pradesh &amp; Karnataka APMCs.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3429000" cy="91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600200"/>
            <a:ext cx="34290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67C0B"/>
                </a:solidFill>
                <a:latin typeface="Calibri"/>
              </a:defRPr>
            </a:pPr>
            <a:r>
              <a:t>Phase 3: 2027 &amp; Beyond</a:t>
            </a:r>
          </a:p>
          <a:p>
            <a:pPr>
              <a:defRPr sz="1100" b="1">
                <a:solidFill>
                  <a:srgbClr val="5F6E64"/>
                </a:solidFill>
                <a:latin typeface="Calibri"/>
              </a:defRPr>
            </a:pPr>
            <a:r>
              <a:t>Full Post-Harvest Ecosystem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IoT Cold-Chain Integration: Real-time temperature tracking inside transit vehicles.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Hyperlocal Micro-Weather Alerts: Rain impact on mandi arrival schedules.</a:t>
            </a:r>
          </a:p>
          <a:p>
            <a:pPr>
              <a:spcBef>
                <a:spcPts val="800"/>
              </a:spcBef>
              <a:defRPr sz="1150">
                <a:solidFill>
                  <a:srgbClr val="1C251E"/>
                </a:solidFill>
                <a:latin typeface="Calibri"/>
              </a:defRPr>
            </a:pPr>
            <a:r>
              <a:t>• Direct B2B institutional buyer contracts (processing mills, retail chains).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600200"/>
            <a:ext cx="3429000" cy="91440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Mandi Saathi: Transforming Indian Agriculture</a:t>
            </a:r>
          </a:p>
          <a:p>
            <a:pPr>
              <a:defRPr sz="2000" b="1">
                <a:solidFill>
                  <a:srgbClr val="E67C0B"/>
                </a:solidFill>
                <a:latin typeface="Calibri"/>
              </a:defRPr>
            </a:pPr>
            <a:r>
              <a:t>From Speculative Guesswork to Guaranteed Take-Home Net Profit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91840" cy="237744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67C0B"/>
                </a:solidFill>
                <a:latin typeface="Calibri"/>
              </a:defRPr>
            </a:pPr>
            <a:r>
              <a:t>1. Real In-Pocket Profit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Never look at gross headline price alone. Calculate true take-home earnings with verified freight, fees &amp; spoilage.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926080"/>
            <a:ext cx="3291840" cy="237744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81C784"/>
                </a:solidFill>
                <a:latin typeface="Calibri"/>
              </a:defRPr>
            </a:pPr>
            <a:r>
              <a:t>2. Voice-First for Every Farmer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Zero literacy barrier. Speaks native Marathi &amp; Hindi. Accessible to every farmer with a basic smartphone.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926080"/>
            <a:ext cx="3291840" cy="2377440"/>
          </a:xfrm>
          <a:prstGeom prst="roundRect">
            <a:avLst/>
          </a:prstGeom>
          <a:solidFill>
            <a:srgbClr val="183721"/>
          </a:solidFill>
          <a:ln w="15240">
            <a:solidFill>
              <a:srgbClr val="2D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4B5F6"/>
                </a:solidFill>
                <a:latin typeface="Calibri"/>
              </a:defRPr>
            </a:pPr>
            <a:r>
              <a:t>3. Measurable Economic Impact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+15% to +25% higher seasonal net profit. Empowering farmers with data sovereignty.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577840"/>
            <a:ext cx="6309360" cy="731520"/>
          </a:xfrm>
          <a:prstGeom prst="roundRect">
            <a:avLst/>
          </a:prstGeom>
          <a:solidFill>
            <a:srgbClr val="E67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E14"/>
                </a:solidFill>
                <a:latin typeface="Calibri"/>
              </a:defRPr>
            </a:pPr>
            <a:r>
              <a:t>🌾 Ready for Live Demo &amp; Q&amp;A | Thank You! 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